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</c:v>
                </c:pt>
              </c:strCache>
            </c:strRef>
          </c:tx>
          <c:spPr>
            <a:solidFill>
              <a:srgbClr val="1F5F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2233D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AI &amp; DS</c:v>
                  </c:pt>
                  <c:pt idx="1">
                    <c:v>CSE</c:v>
                  </c:pt>
                  <c:pt idx="2">
                    <c:v>ECE</c:v>
                  </c:pt>
                  <c:pt idx="3">
                    <c:v>Mech</c:v>
                  </c:pt>
                  <c:pt idx="4">
                    <c:v>IT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4.5</c:v>
                </c:pt>
                <c:pt idx="1">
                  <c:v>4.3</c:v>
                </c:pt>
                <c:pt idx="2">
                  <c:v>4.1</c:v>
                </c:pt>
                <c:pt idx="3">
                  <c:v>3.9</c:v>
                </c:pt>
                <c:pt idx="4">
                  <c:v>4.2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2233D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2545"/>
              </a:solidFill>
              <a:effectLst/>
            </c:spPr>
          </c:dPt>
          <c:dPt>
            <c:idx val="1"/>
            <c:bubble3D val="0"/>
            <c:spPr>
              <a:solidFill>
                <a:srgbClr val="1F5FA8"/>
              </a:solidFill>
              <a:effectLst/>
            </c:spPr>
          </c:dPt>
          <c:dPt>
            <c:idx val="2"/>
            <c:bubble3D val="0"/>
            <c:spPr>
              <a:solidFill>
                <a:srgbClr val="2E86DE"/>
              </a:solidFill>
              <a:effectLst/>
            </c:spPr>
          </c:dPt>
          <c:dPt>
            <c:idx val="3"/>
            <c:bubble3D val="0"/>
            <c:spPr>
              <a:solidFill>
                <a:srgbClr val="AFC9E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Excellent</c:v>
                </c:pt>
                <c:pt idx="1">
                  <c:v>Good</c:v>
                </c:pt>
                <c:pt idx="2">
                  <c:v>Average</c:v>
                </c:pt>
                <c:pt idx="3">
                  <c:v>Needs Improvement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32</c:v>
                </c:pt>
                <c:pt idx="1">
                  <c:v>40</c:v>
                </c:pt>
                <c:pt idx="2">
                  <c:v>20</c:v>
                </c:pt>
                <c:pt idx="3">
                  <c:v>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4" Type="http://schemas.openxmlformats.org/officeDocument/2006/relationships/chart" Target="/ppt/charts/chart1.xml"/><Relationship Id="rId5" Type="http://schemas.openxmlformats.org/officeDocument/2006/relationships/chart" Target="/ppt/charts/chart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6" Type="http://schemas.openxmlformats.org/officeDocument/2006/relationships/image" Target="../media/image-9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457200"/>
            <a:ext cx="64008" cy="6400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914400"/>
            <a:ext cx="64008" cy="6400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052560" y="1371600"/>
            <a:ext cx="64008" cy="6400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052560" y="1828800"/>
            <a:ext cx="64008" cy="6400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052560" y="2286000"/>
            <a:ext cx="64008" cy="6400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555480" y="457200"/>
            <a:ext cx="64008" cy="6400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555480" y="914400"/>
            <a:ext cx="64008" cy="6400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555480" y="1371600"/>
            <a:ext cx="64008" cy="6400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555480" y="1828800"/>
            <a:ext cx="64008" cy="6400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555480" y="2286000"/>
            <a:ext cx="64008" cy="6400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058400" y="457200"/>
            <a:ext cx="64008" cy="6400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058400" y="914400"/>
            <a:ext cx="64008" cy="6400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058400" y="1371600"/>
            <a:ext cx="64008" cy="6400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058400" y="1828800"/>
            <a:ext cx="64008" cy="6400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058400" y="2286000"/>
            <a:ext cx="64008" cy="6400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561320" y="457200"/>
            <a:ext cx="64008" cy="6400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561320" y="914400"/>
            <a:ext cx="64008" cy="6400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561320" y="1371600"/>
            <a:ext cx="64008" cy="6400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561320" y="1828800"/>
            <a:ext cx="64008" cy="6400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561320" y="2286000"/>
            <a:ext cx="64008" cy="6400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064240" y="457200"/>
            <a:ext cx="64008" cy="6400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064240" y="914400"/>
            <a:ext cx="64008" cy="6400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064240" y="1371600"/>
            <a:ext cx="64008" cy="6400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064240" y="1828800"/>
            <a:ext cx="64008" cy="6400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1064240" y="2286000"/>
            <a:ext cx="64008" cy="6400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9418320" y="4206240"/>
            <a:ext cx="3840480" cy="3840480"/>
          </a:xfrm>
          <a:prstGeom prst="ellipse">
            <a:avLst/>
          </a:prstGeom>
          <a:solidFill>
            <a:srgbClr val="1F5FA8">
              <a:alpha val="2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424160" y="5212080"/>
            <a:ext cx="2011680" cy="2011680"/>
          </a:xfrm>
          <a:prstGeom prst="ellipse">
            <a:avLst/>
          </a:prstGeom>
          <a:solidFill>
            <a:srgbClr val="2E86DE">
              <a:alpha val="3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40080" y="685800"/>
            <a:ext cx="822960" cy="822960"/>
          </a:xfrm>
          <a:prstGeom prst="ellipse">
            <a:avLst/>
          </a:prstGeom>
          <a:solidFill>
            <a:srgbClr val="1B3D6B"/>
          </a:solidFill>
          <a:ln/>
        </p:spPr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891540"/>
            <a:ext cx="411480" cy="41148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59436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PROJECT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548640" y="269748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Quality Analysis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Data Analytics</a:t>
            </a:r>
            <a:endParaRPr lang="en-US" sz="4200" dirty="0"/>
          </a:p>
        </p:txBody>
      </p:sp>
      <p:sp>
        <p:nvSpPr>
          <p:cNvPr id="33" name="Shape 30"/>
          <p:cNvSpPr/>
          <p:nvPr/>
        </p:nvSpPr>
        <p:spPr>
          <a:xfrm>
            <a:off x="594360" y="4617720"/>
            <a:ext cx="2011680" cy="0"/>
          </a:xfrm>
          <a:prstGeom prst="line">
            <a:avLst/>
          </a:prstGeom>
          <a:noFill/>
          <a:ln w="31750">
            <a:solidFill>
              <a:srgbClr val="2E86D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48640" y="4800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course quality, student engagement, and departmental performance through an end-to-end SQL, Python, and Power BI analytics pipeline.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548640" y="5623560"/>
            <a:ext cx="603504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77240" y="5742432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Palanivel M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 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CSE-B  |  Reg No: 24105107   |   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College: 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Rathinam Technical Campus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309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institutions generate vast amounts of course-related data — ratings, feedback, completion records, and content quality metrics. Without a structured analytics approach, this information stays scattered and underused, making it difficult for decision-makers to evaluate course quality or respond to student needs in a timely way.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794760"/>
            <a:ext cx="6309360" cy="2331720"/>
          </a:xfrm>
          <a:prstGeom prst="roundRect">
            <a:avLst>
              <a:gd name="adj" fmla="val 3922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4023360"/>
            <a:ext cx="5669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Institutions currently lack a centralized system to monitor course quality, track student engagement, and evaluate performance across departments in real time.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178040" y="1508760"/>
            <a:ext cx="44805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06640" y="1755648"/>
            <a:ext cx="685800" cy="68580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8090" y="1927098"/>
            <a:ext cx="342900" cy="3429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75320" y="16916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Centralized Monitoring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275320" y="2075688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data is siloed across departments with no unified view.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178040" y="3136392"/>
            <a:ext cx="44805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406640" y="3383280"/>
            <a:ext cx="685800" cy="68580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90" y="3554730"/>
            <a:ext cx="342900" cy="3429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275320" y="331927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 Engagement Analysis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8275320" y="370332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engagement signals go unmeasured and unused.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7178040" y="4764024"/>
            <a:ext cx="44805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406640" y="5010912"/>
            <a:ext cx="685800" cy="68580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8090" y="5182362"/>
            <a:ext cx="342900" cy="3429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75320" y="4946904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Inconsistent Quality Evaluation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8275320" y="5330952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 method to compare and evaluate course quality.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Quality Analysis using Data Analytics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0345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060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 Course Quality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308152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content quality using measurable indicators.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43400" y="160020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1874520"/>
            <a:ext cx="640080" cy="64008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740" y="203454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26060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Department Performance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17720" y="308152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departments against each other.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38160" y="160020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0" y="1874520"/>
            <a:ext cx="640080" cy="64008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203454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26060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 Student Ratings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412480" y="308152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satisfaction through rating trends.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79476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4069080"/>
            <a:ext cx="640080" cy="64008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422910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" y="48006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 Completion Rate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22960" y="527608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how consistently students finish courses.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43400" y="379476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17720" y="4069080"/>
            <a:ext cx="640080" cy="64008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740" y="422910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17720" y="48006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Interactive Dashboard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617720" y="527608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live Power BI view of performance.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38160" y="379476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12480" y="4069080"/>
            <a:ext cx="640080" cy="64008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422910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12480" y="48006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 Actionable Insights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412480" y="527608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raw data into decisions institutions can use.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Quality Analysis using Data Analytics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Description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383280" cy="4434840"/>
          </a:xfrm>
          <a:prstGeom prst="roundRect">
            <a:avLst>
              <a:gd name="adj" fmla="val 3243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777240" cy="777240"/>
          </a:xfrm>
          <a:prstGeom prst="ellipse">
            <a:avLst/>
          </a:prstGeom>
          <a:solidFill>
            <a:srgbClr val="1B3D6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710" y="216027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8803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1,947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548640" y="3703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Course Records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005840" y="4251960"/>
            <a:ext cx="246888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448056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C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from institutional course records covering ratings, feedback, readability, grammar, and completion metrics — cleaned and structured for analysis.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206240" y="1508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Important Columns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206240" y="196596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70832" y="2167128"/>
            <a:ext cx="457200" cy="45720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5132" y="2281428"/>
            <a:ext cx="228600" cy="2286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937760" y="196596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Course_ID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675120" y="196596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839712" y="2167128"/>
            <a:ext cx="457200" cy="45720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4012" y="2281428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406640" y="196596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Course_Name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144000" y="196596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308592" y="2167128"/>
            <a:ext cx="457200" cy="45720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2892" y="2281428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875520" y="196596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206240" y="2999232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370832" y="3200400"/>
            <a:ext cx="457200" cy="45720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5132" y="3314700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937760" y="2999232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Student_Rating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6675120" y="2999232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839712" y="3200400"/>
            <a:ext cx="457200" cy="45720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4012" y="3314700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406640" y="2999232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Completion_Rate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9144000" y="2999232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9308592" y="3200400"/>
            <a:ext cx="457200" cy="45720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2892" y="3314700"/>
            <a:ext cx="228600" cy="22860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9875520" y="2999232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Grammar_Score</a:t>
            </a:r>
            <a:endParaRPr lang="en-US" sz="1150" dirty="0"/>
          </a:p>
        </p:txBody>
      </p:sp>
      <p:sp>
        <p:nvSpPr>
          <p:cNvPr id="36" name="Shape 27"/>
          <p:cNvSpPr/>
          <p:nvPr/>
        </p:nvSpPr>
        <p:spPr>
          <a:xfrm>
            <a:off x="4206240" y="4032504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37" name="Shape 28"/>
          <p:cNvSpPr/>
          <p:nvPr/>
        </p:nvSpPr>
        <p:spPr>
          <a:xfrm>
            <a:off x="4370832" y="4233672"/>
            <a:ext cx="457200" cy="45720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5132" y="4347972"/>
            <a:ext cx="228600" cy="22860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4937760" y="4032504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Readability_Score</a:t>
            </a:r>
            <a:endParaRPr lang="en-US" sz="1150" dirty="0"/>
          </a:p>
        </p:txBody>
      </p:sp>
      <p:sp>
        <p:nvSpPr>
          <p:cNvPr id="40" name="Shape 30"/>
          <p:cNvSpPr/>
          <p:nvPr/>
        </p:nvSpPr>
        <p:spPr>
          <a:xfrm>
            <a:off x="6675120" y="4032504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41" name="Shape 31"/>
          <p:cNvSpPr/>
          <p:nvPr/>
        </p:nvSpPr>
        <p:spPr>
          <a:xfrm>
            <a:off x="6839712" y="4233672"/>
            <a:ext cx="457200" cy="45720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4012" y="4347972"/>
            <a:ext cx="228600" cy="228600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7406640" y="4032504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Feedback_Count</a:t>
            </a:r>
            <a:endParaRPr lang="en-US" sz="1150" dirty="0"/>
          </a:p>
        </p:txBody>
      </p:sp>
      <p:sp>
        <p:nvSpPr>
          <p:cNvPr id="44" name="Shape 33"/>
          <p:cNvSpPr/>
          <p:nvPr/>
        </p:nvSpPr>
        <p:spPr>
          <a:xfrm>
            <a:off x="9144000" y="4032504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45" name="Shape 34"/>
          <p:cNvSpPr/>
          <p:nvPr/>
        </p:nvSpPr>
        <p:spPr>
          <a:xfrm>
            <a:off x="9308592" y="4233672"/>
            <a:ext cx="457200" cy="45720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46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22892" y="4347972"/>
            <a:ext cx="228600" cy="228600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9875520" y="4032504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Overall_Quality</a:t>
            </a:r>
            <a:endParaRPr lang="en-US" sz="1150" dirty="0"/>
          </a:p>
        </p:txBody>
      </p:sp>
      <p:sp>
        <p:nvSpPr>
          <p:cNvPr id="48" name="Text 36"/>
          <p:cNvSpPr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Quality Analysis using Data Analytics</a:t>
            </a:r>
            <a:endParaRPr lang="en-US" sz="900" dirty="0"/>
          </a:p>
        </p:txBody>
      </p:sp>
      <p:sp>
        <p:nvSpPr>
          <p:cNvPr id="49" name="Text 37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OF THE TRADE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73736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23060" y="1993392"/>
            <a:ext cx="914400" cy="91440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2199132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0632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611880" y="173736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457700" y="1993392"/>
            <a:ext cx="914400" cy="91440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199132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11880" y="30632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46520" y="173736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292340" y="1993392"/>
            <a:ext cx="914400" cy="91440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2199132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46520" y="30632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9281160" y="173736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10126980" y="1993392"/>
            <a:ext cx="914400" cy="91440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0" y="2199132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281160" y="30632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Matplotlib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777240" y="397764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1623060" y="4233672"/>
            <a:ext cx="914400" cy="91440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4439412"/>
            <a:ext cx="502920" cy="5029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77240" y="53035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3611880" y="397764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4457700" y="4233672"/>
            <a:ext cx="914400" cy="91440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4439412"/>
            <a:ext cx="502920" cy="5029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611880" y="53035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</a:t>
            </a:r>
            <a:endParaRPr lang="en-US" sz="1400" dirty="0"/>
          </a:p>
        </p:txBody>
      </p:sp>
      <p:sp>
        <p:nvSpPr>
          <p:cNvPr id="28" name="Shape 20"/>
          <p:cNvSpPr/>
          <p:nvPr/>
        </p:nvSpPr>
        <p:spPr>
          <a:xfrm>
            <a:off x="6446520" y="397764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7292340" y="4233672"/>
            <a:ext cx="914400" cy="91440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0" y="4439412"/>
            <a:ext cx="502920" cy="50292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446520" y="53035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400" dirty="0"/>
          </a:p>
        </p:txBody>
      </p:sp>
      <p:sp>
        <p:nvSpPr>
          <p:cNvPr id="32" name="Shape 23"/>
          <p:cNvSpPr/>
          <p:nvPr/>
        </p:nvSpPr>
        <p:spPr>
          <a:xfrm>
            <a:off x="9281160" y="397764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10126980" y="4233672"/>
            <a:ext cx="914400" cy="91440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32720" y="4439412"/>
            <a:ext cx="502920" cy="50292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9281160" y="53035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Code</a:t>
            </a:r>
            <a:endParaRPr lang="en-US" sz="1400" dirty="0"/>
          </a:p>
        </p:txBody>
      </p:sp>
      <p:sp>
        <p:nvSpPr>
          <p:cNvPr id="36" name="Text 26"/>
          <p:cNvSpPr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Quality Analysis using Data Analytics</a:t>
            </a:r>
            <a:endParaRPr lang="en-US" sz="900" dirty="0"/>
          </a:p>
        </p:txBody>
      </p:sp>
      <p:sp>
        <p:nvSpPr>
          <p:cNvPr id="37" name="Text 27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ALL CONNECTS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99136" y="2331720"/>
            <a:ext cx="1517904" cy="1874520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48360" y="2221992"/>
            <a:ext cx="219456" cy="219456"/>
          </a:xfrm>
          <a:prstGeom prst="ellipse">
            <a:avLst/>
          </a:prstGeom>
          <a:solidFill>
            <a:srgbClr val="0B2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8360" y="22174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74624" y="2606040"/>
            <a:ext cx="566928" cy="566928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182" y="2733599"/>
            <a:ext cx="311810" cy="31181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72288" y="33832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Dataset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862176" y="3150108"/>
            <a:ext cx="237744" cy="237744"/>
          </a:xfrm>
          <a:prstGeom prst="ellipse">
            <a:avLst/>
          </a:prstGeom>
          <a:solidFill>
            <a:srgbClr val="F5F9FD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176" y="3150108"/>
            <a:ext cx="237744" cy="2377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045056" y="2331720"/>
            <a:ext cx="1517904" cy="1874520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694280" y="2221992"/>
            <a:ext cx="219456" cy="219456"/>
          </a:xfrm>
          <a:prstGeom prst="ellipse">
            <a:avLst/>
          </a:prstGeom>
          <a:solidFill>
            <a:srgbClr val="0B2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694280" y="22174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2520544" y="2606040"/>
            <a:ext cx="566928" cy="566928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8102" y="2733599"/>
            <a:ext cx="311810" cy="3118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118208" y="33832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3508096" y="3150108"/>
            <a:ext cx="237744" cy="237744"/>
          </a:xfrm>
          <a:prstGeom prst="ellipse">
            <a:avLst/>
          </a:prstGeom>
          <a:solidFill>
            <a:srgbClr val="F5F9FD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8096" y="3150108"/>
            <a:ext cx="237744" cy="23774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3690976" y="2331720"/>
            <a:ext cx="1517904" cy="1874520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340200" y="2221992"/>
            <a:ext cx="219456" cy="219456"/>
          </a:xfrm>
          <a:prstGeom prst="ellipse">
            <a:avLst/>
          </a:prstGeom>
          <a:solidFill>
            <a:srgbClr val="0B2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4340200" y="22174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4166464" y="2606040"/>
            <a:ext cx="566928" cy="566928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4022" y="2733599"/>
            <a:ext cx="311810" cy="31181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764128" y="33832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Database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5154016" y="3150108"/>
            <a:ext cx="237744" cy="237744"/>
          </a:xfrm>
          <a:prstGeom prst="ellipse">
            <a:avLst/>
          </a:prstGeom>
          <a:solidFill>
            <a:srgbClr val="F5F9FD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4016" y="3150108"/>
            <a:ext cx="237744" cy="237744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5336896" y="2331720"/>
            <a:ext cx="1517904" cy="1874520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5986120" y="2221992"/>
            <a:ext cx="219456" cy="219456"/>
          </a:xfrm>
          <a:prstGeom prst="ellipse">
            <a:avLst/>
          </a:prstGeom>
          <a:solidFill>
            <a:srgbClr val="0B2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5986120" y="22174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31" name="Shape 23"/>
          <p:cNvSpPr/>
          <p:nvPr/>
        </p:nvSpPr>
        <p:spPr>
          <a:xfrm>
            <a:off x="5812384" y="2606040"/>
            <a:ext cx="566928" cy="566928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942" y="2733599"/>
            <a:ext cx="311810" cy="31181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410048" y="33832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050" dirty="0"/>
          </a:p>
        </p:txBody>
      </p:sp>
      <p:sp>
        <p:nvSpPr>
          <p:cNvPr id="34" name="Shape 25"/>
          <p:cNvSpPr/>
          <p:nvPr/>
        </p:nvSpPr>
        <p:spPr>
          <a:xfrm>
            <a:off x="6799936" y="3150108"/>
            <a:ext cx="237744" cy="237744"/>
          </a:xfrm>
          <a:prstGeom prst="ellipse">
            <a:avLst/>
          </a:prstGeom>
          <a:solidFill>
            <a:srgbClr val="F5F9FD"/>
          </a:solidFill>
          <a:ln/>
        </p:spPr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99936" y="3150108"/>
            <a:ext cx="237744" cy="237744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6982816" y="2331720"/>
            <a:ext cx="1517904" cy="1874520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7632040" y="2221992"/>
            <a:ext cx="219456" cy="219456"/>
          </a:xfrm>
          <a:prstGeom prst="ellipse">
            <a:avLst/>
          </a:prstGeom>
          <a:solidFill>
            <a:srgbClr val="0B2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28"/>
          <p:cNvSpPr/>
          <p:nvPr/>
        </p:nvSpPr>
        <p:spPr>
          <a:xfrm>
            <a:off x="7632040" y="22174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39" name="Shape 29"/>
          <p:cNvSpPr/>
          <p:nvPr/>
        </p:nvSpPr>
        <p:spPr>
          <a:xfrm>
            <a:off x="7458304" y="2606040"/>
            <a:ext cx="566928" cy="566928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5862" y="2733599"/>
            <a:ext cx="311810" cy="311810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7055968" y="33832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EDA</a:t>
            </a:r>
            <a:endParaRPr lang="en-US" sz="1050" dirty="0"/>
          </a:p>
        </p:txBody>
      </p:sp>
      <p:sp>
        <p:nvSpPr>
          <p:cNvPr id="42" name="Shape 31"/>
          <p:cNvSpPr/>
          <p:nvPr/>
        </p:nvSpPr>
        <p:spPr>
          <a:xfrm>
            <a:off x="8445856" y="3150108"/>
            <a:ext cx="237744" cy="237744"/>
          </a:xfrm>
          <a:prstGeom prst="ellipse">
            <a:avLst/>
          </a:prstGeom>
          <a:solidFill>
            <a:srgbClr val="F5F9FD"/>
          </a:solidFill>
          <a:ln/>
        </p:spPr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45856" y="3150108"/>
            <a:ext cx="237744" cy="237744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8628736" y="2331720"/>
            <a:ext cx="1517904" cy="1874520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45" name="Shape 33"/>
          <p:cNvSpPr/>
          <p:nvPr/>
        </p:nvSpPr>
        <p:spPr>
          <a:xfrm>
            <a:off x="9277960" y="2221992"/>
            <a:ext cx="219456" cy="219456"/>
          </a:xfrm>
          <a:prstGeom prst="ellipse">
            <a:avLst/>
          </a:prstGeom>
          <a:solidFill>
            <a:srgbClr val="0B2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Text 34"/>
          <p:cNvSpPr/>
          <p:nvPr/>
        </p:nvSpPr>
        <p:spPr>
          <a:xfrm>
            <a:off x="9277960" y="22174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47" name="Shape 35"/>
          <p:cNvSpPr/>
          <p:nvPr/>
        </p:nvSpPr>
        <p:spPr>
          <a:xfrm>
            <a:off x="9104224" y="2606040"/>
            <a:ext cx="566928" cy="566928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48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31782" y="2733599"/>
            <a:ext cx="311810" cy="311810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8701888" y="33832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50" dirty="0"/>
          </a:p>
        </p:txBody>
      </p:sp>
      <p:sp>
        <p:nvSpPr>
          <p:cNvPr id="50" name="Shape 37"/>
          <p:cNvSpPr/>
          <p:nvPr/>
        </p:nvSpPr>
        <p:spPr>
          <a:xfrm>
            <a:off x="10091776" y="3150108"/>
            <a:ext cx="237744" cy="237744"/>
          </a:xfrm>
          <a:prstGeom prst="ellipse">
            <a:avLst/>
          </a:prstGeom>
          <a:solidFill>
            <a:srgbClr val="F5F9FD"/>
          </a:solidFill>
          <a:ln/>
        </p:spPr>
      </p:sp>
      <p:pic>
        <p:nvPicPr>
          <p:cNvPr id="51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91776" y="3150108"/>
            <a:ext cx="237744" cy="237744"/>
          </a:xfrm>
          <a:prstGeom prst="rect">
            <a:avLst/>
          </a:prstGeom>
        </p:spPr>
      </p:pic>
      <p:sp>
        <p:nvSpPr>
          <p:cNvPr id="52" name="Shape 38"/>
          <p:cNvSpPr/>
          <p:nvPr/>
        </p:nvSpPr>
        <p:spPr>
          <a:xfrm>
            <a:off x="10274656" y="2331720"/>
            <a:ext cx="1517904" cy="1874520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53" name="Shape 39"/>
          <p:cNvSpPr/>
          <p:nvPr/>
        </p:nvSpPr>
        <p:spPr>
          <a:xfrm>
            <a:off x="10923880" y="2221992"/>
            <a:ext cx="219456" cy="219456"/>
          </a:xfrm>
          <a:prstGeom prst="ellipse">
            <a:avLst/>
          </a:prstGeom>
          <a:solidFill>
            <a:srgbClr val="0B2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Text 40"/>
          <p:cNvSpPr/>
          <p:nvPr/>
        </p:nvSpPr>
        <p:spPr>
          <a:xfrm>
            <a:off x="10923880" y="22174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55" name="Shape 41"/>
          <p:cNvSpPr/>
          <p:nvPr/>
        </p:nvSpPr>
        <p:spPr>
          <a:xfrm>
            <a:off x="10750144" y="2606040"/>
            <a:ext cx="566928" cy="566928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56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77702" y="2733599"/>
            <a:ext cx="311810" cy="311810"/>
          </a:xfrm>
          <a:prstGeom prst="rect">
            <a:avLst/>
          </a:prstGeom>
        </p:spPr>
      </p:pic>
      <p:sp>
        <p:nvSpPr>
          <p:cNvPr id="57" name="Text 42"/>
          <p:cNvSpPr/>
          <p:nvPr/>
        </p:nvSpPr>
        <p:spPr>
          <a:xfrm>
            <a:off x="10347808" y="33832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050" dirty="0"/>
          </a:p>
        </p:txBody>
      </p:sp>
      <p:sp>
        <p:nvSpPr>
          <p:cNvPr id="58" name="Text 43"/>
          <p:cNvSpPr/>
          <p:nvPr/>
        </p:nvSpPr>
        <p:spPr>
          <a:xfrm>
            <a:off x="548640" y="4709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pipeline — from raw records to a live, interactive Power BI dashboard.</a:t>
            </a:r>
            <a:endParaRPr lang="en-US" sz="1300" dirty="0"/>
          </a:p>
        </p:txBody>
      </p:sp>
      <p:sp>
        <p:nvSpPr>
          <p:cNvPr id="59" name="Text 44"/>
          <p:cNvSpPr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Quality Analysis using Data Analytics</a:t>
            </a:r>
            <a:endParaRPr lang="en-US" sz="900" dirty="0"/>
          </a:p>
        </p:txBody>
      </p:sp>
      <p:sp>
        <p:nvSpPr>
          <p:cNvPr id="60" name="Text 45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 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0345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06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COUNT()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304495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 per department or course.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43400" y="160020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1874520"/>
            <a:ext cx="640080" cy="64008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740" y="203454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2606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AVG()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17720" y="304495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 and completion rate.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38160" y="160020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0" y="1874520"/>
            <a:ext cx="640080" cy="64008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203454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2606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BY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12480" y="304495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metrics by department.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79476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4069080"/>
            <a:ext cx="640080" cy="64008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422910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" y="48006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BY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22960" y="523951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courses by performance.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43400" y="379476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17720" y="4069080"/>
            <a:ext cx="640080" cy="64008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740" y="422910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17720" y="48006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Filtering (WHERE)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617720" y="523951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low-rated or high-risk courses.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38160" y="379476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12480" y="4069080"/>
            <a:ext cx="640080" cy="64008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422910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12480" y="48006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Aggregation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412480" y="523951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MIN, MAX and SUM for summaries.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Quality Analysis using Data Analytics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0345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06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Statistics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304495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median, and spread of key metrics.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43400" y="160020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1874520"/>
            <a:ext cx="640080" cy="64008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740" y="203454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2606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 Analysis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17720" y="304495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handle incomplete records.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38160" y="160020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0" y="1874520"/>
            <a:ext cx="640080" cy="64008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203454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2606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Plots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412480" y="304495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rating and score distributions.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79476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4069080"/>
            <a:ext cx="640080" cy="64008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422910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" y="48006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Boxplots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22960" y="523951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outliers across departments.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43400" y="379476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17720" y="4069080"/>
            <a:ext cx="640080" cy="64008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740" y="422910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17720" y="48006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 Analysis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617720" y="523951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performance across departments.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38160" y="379476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12480" y="4069080"/>
            <a:ext cx="640080" cy="64008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422910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12480" y="48006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Analysis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412480" y="523951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quality with engagement.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Quality Analysis using Data Analytics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IT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470916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83080"/>
            <a:ext cx="2743200" cy="502920"/>
          </a:xfrm>
          <a:prstGeom prst="roundRect">
            <a:avLst>
              <a:gd name="adj" fmla="val 54545"/>
            </a:avLst>
          </a:prstGeom>
          <a:solidFill>
            <a:srgbClr val="EAF2FB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856232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929384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7830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Filter  ▾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22960" y="2468880"/>
            <a:ext cx="2651760" cy="1234440"/>
          </a:xfrm>
          <a:prstGeom prst="roundRect">
            <a:avLst>
              <a:gd name="adj" fmla="val 6667"/>
            </a:avLst>
          </a:prstGeom>
          <a:solidFill>
            <a:srgbClr val="0B2545"/>
          </a:solidFill>
          <a:ln/>
        </p:spPr>
      </p:sp>
      <p:sp>
        <p:nvSpPr>
          <p:cNvPr id="10" name="Shape 7"/>
          <p:cNvSpPr/>
          <p:nvPr/>
        </p:nvSpPr>
        <p:spPr>
          <a:xfrm>
            <a:off x="1005840" y="2606040"/>
            <a:ext cx="502920" cy="502920"/>
          </a:xfrm>
          <a:prstGeom prst="ellipse">
            <a:avLst/>
          </a:prstGeom>
          <a:solidFill>
            <a:srgbClr val="1B3D6B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997" y="2719197"/>
            <a:ext cx="276606" cy="2766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05840" y="31089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1,947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1005840" y="3520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Courses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703320" y="2468880"/>
            <a:ext cx="2651760" cy="1234440"/>
          </a:xfrm>
          <a:prstGeom prst="roundRect">
            <a:avLst>
              <a:gd name="adj" fmla="val 6667"/>
            </a:avLst>
          </a:prstGeom>
          <a:solidFill>
            <a:srgbClr val="0B2545"/>
          </a:solidFill>
          <a:ln/>
        </p:spPr>
      </p:sp>
      <p:sp>
        <p:nvSpPr>
          <p:cNvPr id="15" name="Shape 11"/>
          <p:cNvSpPr/>
          <p:nvPr/>
        </p:nvSpPr>
        <p:spPr>
          <a:xfrm>
            <a:off x="3886200" y="2606040"/>
            <a:ext cx="502920" cy="502920"/>
          </a:xfrm>
          <a:prstGeom prst="ellipse">
            <a:avLst/>
          </a:prstGeom>
          <a:solidFill>
            <a:srgbClr val="1B3D6B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9357" y="2719197"/>
            <a:ext cx="276606" cy="27660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886200" y="31089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 / 5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3886200" y="3520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822960" y="3886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Department-wise Average Rating</a:t>
            </a:r>
            <a:endParaRPr lang="en-US" sz="11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822960" y="4160520"/>
          <a:ext cx="288036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1" name="Text 15"/>
          <p:cNvSpPr/>
          <p:nvPr/>
        </p:nvSpPr>
        <p:spPr>
          <a:xfrm>
            <a:off x="3977640" y="3886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Distribution</a:t>
            </a:r>
            <a:endParaRPr lang="en-US" sz="1100" dirty="0"/>
          </a:p>
        </p:txBody>
      </p:sp>
      <p:graphicFrame>
        <p:nvGraphicFramePr>
          <p:cNvPr id="22" name="Chart 1" descr=""/>
          <p:cNvGraphicFramePr/>
          <p:nvPr/>
        </p:nvGraphicFramePr>
        <p:xfrm>
          <a:off x="3977640" y="4160520"/>
          <a:ext cx="283464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3" name="Shape 16"/>
          <p:cNvSpPr/>
          <p:nvPr/>
        </p:nvSpPr>
        <p:spPr>
          <a:xfrm>
            <a:off x="7086600" y="2468880"/>
            <a:ext cx="4251960" cy="3611880"/>
          </a:xfrm>
          <a:prstGeom prst="roundRect">
            <a:avLst>
              <a:gd name="adj" fmla="val 2532"/>
            </a:avLst>
          </a:prstGeom>
          <a:solidFill>
            <a:srgbClr val="EAF2FB"/>
          </a:solidFill>
          <a:ln/>
        </p:spPr>
      </p:sp>
      <p:sp>
        <p:nvSpPr>
          <p:cNvPr id="24" name="Shape 17"/>
          <p:cNvSpPr/>
          <p:nvPr/>
        </p:nvSpPr>
        <p:spPr>
          <a:xfrm>
            <a:off x="7315200" y="269748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9505" y="2851785"/>
            <a:ext cx="377190" cy="37719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138160" y="272491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Dashboard Preview</a:t>
            </a:r>
            <a:endParaRPr lang="en-US" sz="1450" dirty="0"/>
          </a:p>
        </p:txBody>
      </p:sp>
      <p:sp>
        <p:nvSpPr>
          <p:cNvPr id="27" name="Text 19"/>
          <p:cNvSpPr/>
          <p:nvPr/>
        </p:nvSpPr>
        <p:spPr>
          <a:xfrm>
            <a:off x="7315200" y="3474720"/>
            <a:ext cx="3794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Power BI report lets users filter by department and instantly see updated KPI cards and charts — giving decision-makers a real-time view of course quality across the institution.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7315200" y="48920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Courses Card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7315200" y="51480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 Card</a:t>
            </a:r>
            <a:endParaRPr lang="en-US" sz="1050" dirty="0"/>
          </a:p>
        </p:txBody>
      </p:sp>
      <p:sp>
        <p:nvSpPr>
          <p:cNvPr id="30" name="Text 22"/>
          <p:cNvSpPr/>
          <p:nvPr/>
        </p:nvSpPr>
        <p:spPr>
          <a:xfrm>
            <a:off x="7315200" y="54041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Department-wise Bar Chart</a:t>
            </a:r>
            <a:endParaRPr lang="en-US" sz="1050" dirty="0"/>
          </a:p>
        </p:txBody>
      </p:sp>
      <p:sp>
        <p:nvSpPr>
          <p:cNvPr id="31" name="Text 23"/>
          <p:cNvSpPr/>
          <p:nvPr/>
        </p:nvSpPr>
        <p:spPr>
          <a:xfrm>
            <a:off x="7315200" y="56601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Pie Chart</a:t>
            </a:r>
            <a:endParaRPr lang="en-US" sz="1050" dirty="0"/>
          </a:p>
        </p:txBody>
      </p:sp>
      <p:sp>
        <p:nvSpPr>
          <p:cNvPr id="32" name="Text 24"/>
          <p:cNvSpPr/>
          <p:nvPr/>
        </p:nvSpPr>
        <p:spPr>
          <a:xfrm>
            <a:off x="7315200" y="59161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Filter (Slicer)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Quality Analysis using Data Analytics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960120" cy="96012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990" y="2343150"/>
            <a:ext cx="480060" cy="4800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185623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&amp; DS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965960" y="235000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Performing Department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301752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average rating and completion rate.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17920" y="160020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2103120"/>
            <a:ext cx="960120" cy="96012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2270" y="2343150"/>
            <a:ext cx="480060" cy="4800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35240" y="185623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 / 5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7635240" y="235000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Student Rating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492240" y="301752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Consistently strong satisfaction across courses.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48640" y="384048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" y="4343400"/>
            <a:ext cx="960120" cy="96012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90" y="4583430"/>
            <a:ext cx="480060" cy="4800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965960" y="409651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72%</a:t>
            </a:r>
            <a:endParaRPr lang="en-US" sz="2400" dirty="0"/>
          </a:p>
        </p:txBody>
      </p:sp>
      <p:sp>
        <p:nvSpPr>
          <p:cNvPr id="20" name="Text 15"/>
          <p:cNvSpPr/>
          <p:nvPr/>
        </p:nvSpPr>
        <p:spPr>
          <a:xfrm>
            <a:off x="1965960" y="459028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 Good or Excellent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22960" y="52578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of courses meet quality benchmarks.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217920" y="384048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92240" y="4343400"/>
            <a:ext cx="960120" cy="96012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2270" y="4583430"/>
            <a:ext cx="480060" cy="4800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635240" y="409651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Steady</a:t>
            </a:r>
            <a:endParaRPr lang="en-US" sz="2400" dirty="0"/>
          </a:p>
        </p:txBody>
      </p:sp>
      <p:sp>
        <p:nvSpPr>
          <p:cNvPr id="26" name="Text 20"/>
          <p:cNvSpPr/>
          <p:nvPr/>
        </p:nvSpPr>
        <p:spPr>
          <a:xfrm>
            <a:off x="7635240" y="459028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Quality Summary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492240" y="52578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foundation with room for targeted gains.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Quality Analysis using Data Analytics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92224"/>
            <a:ext cx="548640" cy="54864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" y="1915668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69164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Prediction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486400" y="1691640"/>
            <a:ext cx="5943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course quality before students finish it.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587752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2688336"/>
            <a:ext cx="548640" cy="54864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" y="2811780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587752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Recommendation System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486400" y="2587752"/>
            <a:ext cx="5943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improvements tailored to each course.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483864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3584448"/>
            <a:ext cx="548640" cy="54864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" y="3707892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483864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Dashboard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5486400" y="3483864"/>
            <a:ext cx="5943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refresh as new feedback arrives.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4379976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4480560"/>
            <a:ext cx="548640" cy="54864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" y="460400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379976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Deployment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5486400" y="4379976"/>
            <a:ext cx="5943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the dashboard on Power BI Service.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5276088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31520" y="5376672"/>
            <a:ext cx="548640" cy="54864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" y="5500116"/>
            <a:ext cx="301752" cy="30175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08760" y="5276088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Reporting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5486400" y="5276088"/>
            <a:ext cx="5943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reports delivered to stakeholders.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Quality Analysis using Data Analytics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57200"/>
            <a:ext cx="64008" cy="6400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914400"/>
            <a:ext cx="64008" cy="6400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326880" y="1371600"/>
            <a:ext cx="64008" cy="6400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326880" y="1828800"/>
            <a:ext cx="64008" cy="6400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829800" y="457200"/>
            <a:ext cx="64008" cy="6400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829800" y="914400"/>
            <a:ext cx="64008" cy="6400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829800" y="1371600"/>
            <a:ext cx="64008" cy="6400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829800" y="1828800"/>
            <a:ext cx="64008" cy="6400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332720" y="457200"/>
            <a:ext cx="64008" cy="6400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332720" y="914400"/>
            <a:ext cx="64008" cy="6400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332720" y="1371600"/>
            <a:ext cx="64008" cy="6400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332720" y="1828800"/>
            <a:ext cx="64008" cy="6400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835640" y="457200"/>
            <a:ext cx="64008" cy="6400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835640" y="914400"/>
            <a:ext cx="64008" cy="6400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835640" y="1371600"/>
            <a:ext cx="64008" cy="6400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835640" y="1828800"/>
            <a:ext cx="64008" cy="6400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338560" y="457200"/>
            <a:ext cx="64008" cy="6400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338560" y="914400"/>
            <a:ext cx="64008" cy="6400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338560" y="1371600"/>
            <a:ext cx="64008" cy="6400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338560" y="1828800"/>
            <a:ext cx="64008" cy="6400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685800"/>
            <a:ext cx="822960" cy="822960"/>
          </a:xfrm>
          <a:prstGeom prst="ellipse">
            <a:avLst/>
          </a:prstGeom>
          <a:solidFill>
            <a:srgbClr val="1B3D6B"/>
          </a:solidFill>
          <a:ln/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891540"/>
            <a:ext cx="411480" cy="41148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94360" y="1737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SUMMING UP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48640" y="20574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26" name="Shape 23"/>
          <p:cNvSpPr/>
          <p:nvPr/>
        </p:nvSpPr>
        <p:spPr>
          <a:xfrm>
            <a:off x="594360" y="2880360"/>
            <a:ext cx="2011680" cy="0"/>
          </a:xfrm>
          <a:prstGeom prst="line">
            <a:avLst/>
          </a:prstGeom>
          <a:noFill/>
          <a:ln w="31750">
            <a:solidFill>
              <a:srgbClr val="2E86D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48640" y="3154680"/>
            <a:ext cx="8961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E4E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successfully demonstrates an end-to-end Data Analytics pipeline — using SQL, Python, and Power BI — to evaluate course quality and support better educational decision-making.</a:t>
            </a:r>
            <a:endParaRPr lang="en-US" sz="1700" dirty="0"/>
          </a:p>
        </p:txBody>
      </p:sp>
      <p:sp>
        <p:nvSpPr>
          <p:cNvPr id="28" name="Shape 25"/>
          <p:cNvSpPr/>
          <p:nvPr/>
        </p:nvSpPr>
        <p:spPr>
          <a:xfrm>
            <a:off x="594360" y="4764024"/>
            <a:ext cx="146304" cy="146304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29" name="Text 26"/>
          <p:cNvSpPr/>
          <p:nvPr/>
        </p:nvSpPr>
        <p:spPr>
          <a:xfrm>
            <a:off x="896112" y="4709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for structured querying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594360" y="5266944"/>
            <a:ext cx="146304" cy="146304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31" name="Text 28"/>
          <p:cNvSpPr/>
          <p:nvPr/>
        </p:nvSpPr>
        <p:spPr>
          <a:xfrm>
            <a:off x="896112" y="5212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for exploratory analysis</a:t>
            </a:r>
            <a:endParaRPr lang="en-US" sz="1350" dirty="0"/>
          </a:p>
        </p:txBody>
      </p:sp>
      <p:sp>
        <p:nvSpPr>
          <p:cNvPr id="32" name="Shape 29"/>
          <p:cNvSpPr/>
          <p:nvPr/>
        </p:nvSpPr>
        <p:spPr>
          <a:xfrm>
            <a:off x="594360" y="5769864"/>
            <a:ext cx="146304" cy="146304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33" name="Text 30"/>
          <p:cNvSpPr/>
          <p:nvPr/>
        </p:nvSpPr>
        <p:spPr>
          <a:xfrm>
            <a:off x="896112" y="5715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for interactive visualization</a:t>
            </a:r>
            <a:endParaRPr lang="en-US" sz="1350" dirty="0"/>
          </a:p>
        </p:txBody>
      </p:sp>
      <p:sp>
        <p:nvSpPr>
          <p:cNvPr id="34" name="Text 31"/>
          <p:cNvSpPr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Quality Analysis using Data Analytics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8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Quality Analysis using Data Analytics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8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F5FA8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4114800" cy="4114800"/>
          </a:xfrm>
          <a:prstGeom prst="ellipse">
            <a:avLst/>
          </a:prstGeom>
          <a:solidFill>
            <a:srgbClr val="2E86DE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92928" y="1920240"/>
            <a:ext cx="1005840" cy="1005840"/>
          </a:xfrm>
          <a:prstGeom prst="ellipse">
            <a:avLst/>
          </a:prstGeom>
          <a:solidFill>
            <a:srgbClr val="1B3D6B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4388" y="21717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15468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0" y="40690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9FC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272888" y="4846320"/>
            <a:ext cx="1645920" cy="0"/>
          </a:xfrm>
          <a:prstGeom prst="line">
            <a:avLst/>
          </a:prstGeom>
          <a:noFill/>
          <a:ln w="25400">
            <a:solidFill>
              <a:srgbClr val="2E86D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0" y="630936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Quality Analysis using Data Analytics  |  AI &amp; Data Science  |  Rathinam Technical Campus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Quality Analysis using Data Analytics</dc:title>
  <dc:subject>PptxGenJS Presentation</dc:subject>
  <dc:creator>Rathinam Technical Campus</dc:creator>
  <cp:lastModifiedBy>Rathinam Technical Campus</cp:lastModifiedBy>
  <cp:revision>1</cp:revision>
  <dcterms:created xsi:type="dcterms:W3CDTF">2026-07-01T10:06:35Z</dcterms:created>
  <dcterms:modified xsi:type="dcterms:W3CDTF">2026-07-01T10:06:35Z</dcterms:modified>
</cp:coreProperties>
</file>